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FFFFFF"/>
                </a:solidFill>
                <a:latin typeface="Arial"/>
              </a:rPr>
              <a:t>Churn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62F-4FAF-BC39-ED79554DE1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62F-4FAF-BC39-ED79554DE13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62F-4FAF-BC39-ED79554DE13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62F-4FAF-BC39-ED79554DE13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Churn (73.5%)</c:v>
                </c:pt>
                <c:pt idx="1">
                  <c:v>Churn (26.5%)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73.5</c:v>
                </c:pt>
                <c:pt idx="1">
                  <c:v>26.5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62F-4FAF-BC39-ED79554DE1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1320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FFFFFF"/>
                </a:solidFill>
                <a:latin typeface="Arial"/>
              </a:rPr>
              <a:t>5-Fold CV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Accuracy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217-4056-B128-6C715EE62933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217-4056-B128-6C715EE62933}"/>
              </c:ext>
            </c:extLst>
          </c:dPt>
          <c:dPt>
            <c:idx val="2"/>
            <c:invertIfNegative val="0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217-4056-B128-6C715EE62933}"/>
              </c:ext>
            </c:extLst>
          </c:dPt>
          <c:dPt>
            <c:idx val="3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217-4056-B128-6C715EE6293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Logistic
Regression</c:v>
                </c:pt>
                <c:pt idx="1">
                  <c:v>Decision
Tree</c:v>
                </c:pt>
                <c:pt idx="2">
                  <c:v>Random
Forest</c:v>
                </c:pt>
                <c:pt idx="3">
                  <c:v>Gradient
Boosting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</c:v>
                </c:pt>
                <c:pt idx="1">
                  <c:v>78</c:v>
                </c:pt>
                <c:pt idx="2">
                  <c:v>85</c:v>
                </c:pt>
                <c:pt idx="3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217-4056-B128-6C715EE629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60"/>
        </c:scaling>
        <c:delete val="0"/>
        <c:axPos val="l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FFFFFF"/>
                </a:solidFill>
                <a:latin typeface="Arial"/>
              </a:rPr>
              <a:t>Top Feature Importances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tenure</c:v>
                </c:pt>
                <c:pt idx="1">
                  <c:v>TotalCharges</c:v>
                </c:pt>
                <c:pt idx="2">
                  <c:v>MonthlyCharges</c:v>
                </c:pt>
                <c:pt idx="3">
                  <c:v>Contract</c:v>
                </c:pt>
                <c:pt idx="4">
                  <c:v>PaymentMethod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0.18</c:v>
                </c:pt>
                <c:pt idx="1">
                  <c:v>0.16</c:v>
                </c:pt>
                <c:pt idx="2">
                  <c:v>0.14000000000000001</c:v>
                </c:pt>
                <c:pt idx="3">
                  <c:v>0.11</c:v>
                </c:pt>
                <c:pt idx="4">
                  <c:v>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66-4833-AE97-B9EC812306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C3E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C3C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7229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ABC9C"/>
                </a:solidFill>
              </a:rPr>
              <a:t>INTERNSHIP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Customer Churn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Prediction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ABC9C"/>
                </a:solidFill>
              </a:rPr>
              <a:t>Using Machine Learning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C3C7"/>
                </a:solidFill>
              </a:rPr>
              <a:t>Harshada Patil  |</a:t>
            </a:r>
            <a:r>
              <a:rPr lang="en-US" sz="1300" dirty="0">
                <a:solidFill>
                  <a:srgbClr val="BDC3C7"/>
                </a:solidFill>
              </a:rPr>
              <a:t>  AI/ML   |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0292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972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Problem Overview &amp; Objectives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50292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116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0116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Dataset Description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26080"/>
            <a:ext cx="50292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260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29260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Exploratory Data Analysis (EDA)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8404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840480"/>
            <a:ext cx="50292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8404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38404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Data Preprocessing &amp; SMOTE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97280"/>
            <a:ext cx="50292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0972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49240" y="10972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Model Training &amp; Comparison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20116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011680"/>
            <a:ext cx="50292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0116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49240" y="20116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Hyperparameter Tuning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26080"/>
            <a:ext cx="50292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260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49240" y="29260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Results &amp; Evaluation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38404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840480"/>
            <a:ext cx="502920" cy="6858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84048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49240" y="38404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</a:rPr>
              <a:t>Conclusion &amp; Future 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PROBLEM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429768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54864" cy="1554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070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What is Churn?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Customers stop using a service. ~26% of Telco customers churn every year.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29768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54864" cy="1554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070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Business Impact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5544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Acquiring new customers costs 5x more than retaining existing ones.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" y="2834640"/>
            <a:ext cx="429768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834640"/>
            <a:ext cx="54864" cy="1554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443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ML Solution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" y="32918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Predict which customers are likely to churn so companies can intervene early.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834640"/>
            <a:ext cx="4297680" cy="1554480"/>
          </a:xfrm>
          <a:prstGeom prst="rect">
            <a:avLst/>
          </a:prstGeom>
          <a:solidFill>
            <a:srgbClr val="132030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834640"/>
            <a:ext cx="54864" cy="15544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9443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Our Goal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329184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Build a classification model that accurately identifies churners from data.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DATASET DESCRIPTION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20116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</a:rPr>
              <a:t>7,043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8288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Customer Records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1005840"/>
            <a:ext cx="20116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</a:rPr>
              <a:t>21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7744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20116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</a:rPr>
              <a:t>26.5%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Churn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1005840"/>
            <a:ext cx="201168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0515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BC9C"/>
                </a:solidFill>
              </a:rPr>
              <a:t>19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645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Predictors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Key Features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182880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Demographic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03120" y="2834640"/>
            <a:ext cx="6766560" cy="320040"/>
          </a:xfrm>
          <a:prstGeom prst="rect">
            <a:avLst/>
          </a:prstGeom>
          <a:solidFill>
            <a:srgbClr val="E8F8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28346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gender, SeniorCitizen, Partner, Dependents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182880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Services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03120" y="3246120"/>
            <a:ext cx="6766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94560" y="3246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PhoneService, InternetService, StreamingTV, OnlineSecurity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Account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3120" y="3657600"/>
            <a:ext cx="6766560" cy="320040"/>
          </a:xfrm>
          <a:prstGeom prst="rect">
            <a:avLst/>
          </a:prstGeom>
          <a:solidFill>
            <a:srgbClr val="E8F8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94560" y="3657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Contract, PaymentMethod, PaperlessBilling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Financial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03120" y="4069080"/>
            <a:ext cx="6766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40690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MonthlyCharges, TotalCharges, tenure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480560"/>
            <a:ext cx="182880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480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103120" y="4480560"/>
            <a:ext cx="6766560" cy="320040"/>
          </a:xfrm>
          <a:prstGeom prst="rect">
            <a:avLst/>
          </a:prstGeom>
          <a:solidFill>
            <a:srgbClr val="E8F8F5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44805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Churn (Yes = 1 / No = 0)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EXPLORATORY DATA ANALYSIS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00584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206240" y="1005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</a:rPr>
              <a:t>Key Insights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06240" y="1508760"/>
            <a:ext cx="228600" cy="2286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26280" y="1463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Only 26.5% customers churned — class imbalance present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2057400"/>
            <a:ext cx="228600" cy="2286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6280" y="20116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Month-to-month contracts: highest churn rate (&gt;40%)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06240" y="2606040"/>
            <a:ext cx="228600" cy="2286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25603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Senior citizens churn more (~41%) vs non-seniors (~24%)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06240" y="3154680"/>
            <a:ext cx="228600" cy="2286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26280" y="31089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Customers with no online security churn at 42%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06240" y="3703320"/>
            <a:ext cx="228600" cy="2286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26280" y="36576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Short tenure (&lt;12 months) have significantly higher churn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06240" y="4251960"/>
            <a:ext cx="228600" cy="2286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42062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Electronic check payment method correlates with churn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DATA PREPROCESSING &amp; SMOTE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57200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1005840"/>
            <a:ext cx="8046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Remove customerID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29844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</a:rPr>
              <a:t>Non-predictive column dropped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83080"/>
            <a:ext cx="457200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8308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804672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Fix TotalCharges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07568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</a:rPr>
              <a:t>Blank spaces replaced with 0.0, cast to float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57200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603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77240" y="2560320"/>
            <a:ext cx="8046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Label Encoding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8529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</a:rPr>
              <a:t>All categorical features encoded to numeric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457200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3756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77240" y="3337560"/>
            <a:ext cx="804672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440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Train-Test Split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3630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</a:rPr>
              <a:t>80% train / 20% test with stratified sampling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114800"/>
            <a:ext cx="457200" cy="594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1480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77240" y="4114800"/>
            <a:ext cx="80467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160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SMOTE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440740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6655"/>
                </a:solidFill>
              </a:rPr>
              <a:t>Synthetic oversampling on training data only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SMOTE Result: Training data balanced from 73.5%/26.5% → 50% / 50% (No Churn / Churn)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MODEL TRAINING &amp; COMPARISON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10058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39496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Model Summary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94960" y="1463040"/>
            <a:ext cx="3566160" cy="777240"/>
          </a:xfrm>
          <a:prstGeom prst="rect">
            <a:avLst/>
          </a:prstGeom>
          <a:solidFill>
            <a:srgbClr val="13203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53212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80960" y="1508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BC9C"/>
                </a:solidFill>
              </a:rPr>
              <a:t>75%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532120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</a:rPr>
              <a:t>Baseline linear classifier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94960" y="2377440"/>
            <a:ext cx="3566160" cy="777240"/>
          </a:xfrm>
          <a:prstGeom prst="rect">
            <a:avLst/>
          </a:prstGeom>
          <a:solidFill>
            <a:srgbClr val="13203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3212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Decision Tree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8096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BC9C"/>
                </a:solidFill>
              </a:rPr>
              <a:t>78%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53212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</a:rPr>
              <a:t>Non-linear, interpretable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94960" y="3291840"/>
            <a:ext cx="3566160" cy="777240"/>
          </a:xfrm>
          <a:prstGeom prst="rect">
            <a:avLst/>
          </a:prstGeom>
          <a:solidFill>
            <a:srgbClr val="0E6655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3212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 ✓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680960" y="3337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BC9C"/>
                </a:solidFill>
              </a:rPr>
              <a:t>85%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532120" y="3703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</a:rPr>
              <a:t>Best performer — selected!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394960" y="4206240"/>
            <a:ext cx="3566160" cy="777240"/>
          </a:xfrm>
          <a:prstGeom prst="rect">
            <a:avLst/>
          </a:prstGeom>
          <a:solidFill>
            <a:srgbClr val="13203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532120" y="4251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Gradient Boosting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80960" y="42519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ABC9C"/>
                </a:solidFill>
              </a:rPr>
              <a:t>83%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532120" y="4617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DC3C7"/>
                </a:solidFill>
              </a:rPr>
              <a:t>Sequential ensemble model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HYPERPARAMETER TUNING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GridSearchCV Parameters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n_estimators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6655"/>
                </a:solidFill>
              </a:rPr>
              <a:t>100, 200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38528"/>
            <a:ext cx="411480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max_depth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385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6655"/>
                </a:solidFill>
              </a:rPr>
              <a:t>None, 10, 20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414016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1401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min_samples_split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414016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6655"/>
                </a:solidFill>
              </a:rPr>
              <a:t>2, 5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889504"/>
            <a:ext cx="411480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895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min_samples_leaf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8895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6655"/>
                </a:solidFill>
              </a:rPr>
              <a:t>1, 2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3364992"/>
            <a:ext cx="41148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6499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CV Folds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3364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6655"/>
                </a:solidFill>
              </a:rPr>
              <a:t>3-Fold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4114800" cy="411480"/>
          </a:xfrm>
          <a:prstGeom prst="rect">
            <a:avLst/>
          </a:prstGeom>
          <a:solidFill>
            <a:srgbClr val="EBF5FB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8404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Scoring Metric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840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6655"/>
                </a:solidFill>
              </a:rPr>
              <a:t>F1 Score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1005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Best Parameters Found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663440" y="1463040"/>
            <a:ext cx="42976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C3C7"/>
                </a:solidFill>
              </a:rPr>
              <a:t>n_estimators: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ABC9C"/>
                </a:solidFill>
              </a:rPr>
              <a:t>200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2057400"/>
            <a:ext cx="42976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0060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C3C7"/>
                </a:solidFill>
              </a:rPr>
              <a:t>max_depth: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49440" y="2057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ABC9C"/>
                </a:solidFill>
              </a:rPr>
              <a:t>None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63440" y="2651760"/>
            <a:ext cx="42976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00600" y="2651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C3C7"/>
                </a:solidFill>
              </a:rPr>
              <a:t>min_samples_split: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2651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ABC9C"/>
                </a:solidFill>
              </a:rPr>
              <a:t>2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663440" y="3246120"/>
            <a:ext cx="429768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00600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C3C7"/>
                </a:solidFill>
              </a:rPr>
              <a:t>min_samples_leaf: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49440" y="3246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ABC9C"/>
                </a:solidFill>
              </a:rPr>
              <a:t>1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4663440" y="3977640"/>
            <a:ext cx="4297680" cy="822960"/>
          </a:xfrm>
          <a:prstGeom prst="rect">
            <a:avLst/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0060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Best CV F1 Score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00600" y="4297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~0.87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RESULTS &amp; EVALUATION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60020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051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BC9C"/>
                </a:solidFill>
              </a:rPr>
              <a:t>82%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" y="1600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947672" y="1005840"/>
            <a:ext cx="160020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47672" y="1051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BC9C"/>
                </a:solidFill>
              </a:rPr>
              <a:t>75%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947672" y="1600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12464" y="1005840"/>
            <a:ext cx="160020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12464" y="1051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BC9C"/>
                </a:solidFill>
              </a:rPr>
              <a:t>68%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12464" y="1600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Recall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77256" y="1005840"/>
            <a:ext cx="160020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77256" y="1051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BC9C"/>
                </a:solidFill>
              </a:rPr>
              <a:t>71%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77256" y="1600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F1 Score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42048" y="1005840"/>
            <a:ext cx="1600200" cy="1097280"/>
          </a:xfrm>
          <a:prstGeom prst="rect">
            <a:avLst/>
          </a:prstGeom>
          <a:solidFill>
            <a:srgbClr val="132030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42048" y="105156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BC9C"/>
                </a:solidFill>
              </a:rPr>
              <a:t>0.85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42048" y="160020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DC3C7"/>
                </a:solidFill>
              </a:rPr>
              <a:t>ROC-AUC</a:t>
            </a:r>
            <a:endParaRPr lang="en-US" sz="11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182880" y="2240280"/>
          <a:ext cx="50292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539496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BC9C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394960" y="2697480"/>
            <a:ext cx="27432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94960" y="26974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715000" y="269748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Random Forest (tuned) is the best model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394960" y="3200400"/>
            <a:ext cx="27432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9496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715000" y="32004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SMOTE improved minority class recall by ~15%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394960" y="3703320"/>
            <a:ext cx="27432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94960" y="37033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715000" y="3703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Model generalizes well with ~0.85 AUC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394960" y="4206240"/>
            <a:ext cx="27432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94960" y="42062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715000" y="42062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Tenure is the single most important feature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394960" y="4709160"/>
            <a:ext cx="274320" cy="320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394960" y="47091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715000" y="47091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Contract type strongly predicts churn risk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</a:rPr>
              <a:t>PREDICTIVE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37160" y="1097280"/>
            <a:ext cx="16002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0972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Input Customer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280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BC9C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01952" y="1097280"/>
            <a:ext cx="16002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01952" y="10972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Label Encode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02152" y="1280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BC9C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66744" y="1097280"/>
            <a:ext cx="16002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66744" y="10972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Align Features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66944" y="1280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BC9C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31536" y="1097280"/>
            <a:ext cx="16002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31536" y="10972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Random Forest Model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31736" y="1280160"/>
            <a:ext cx="164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BC9C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196328" y="1097280"/>
            <a:ext cx="1600200" cy="9144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96328" y="1097280"/>
            <a:ext cx="1600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Churn / No Churn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22402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Sample Prediction Code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606040"/>
            <a:ext cx="859536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9748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</a:rPr>
              <a:t>customer = { 'gender': 'Female', 'SeniorCitizen': 0,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</a:rPr>
              <a:t>             'Contract': 'Month-to-month', 'tenure': 1,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</a:rPr>
              <a:t>             'MonthlyCharges': 29.85, ...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</a:rPr>
              <a:t>prediction, probability = predict_churn(customer)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BC9C"/>
                </a:solidFill>
              </a:rPr>
              <a:t># Output: CHURN | Probability: 82.5%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</a:rPr>
              <a:t>CONCLUSION &amp; FUTURE WORK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BC9C"/>
                </a:solidFill>
              </a:rPr>
              <a:t>Project Conclusion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82880" cy="1828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Successfully built end-to-end ML pipeline for churn prediction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182880" cy="1828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391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Random Forest with SMOTE achieved ~82% accuracy and 0.85 AUC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182880" cy="1828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334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Identified top churn drivers: tenure, charges, contract type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182880" cy="1828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278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Predictive system ready for real-world deployment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0058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BC9C"/>
                </a:solidFill>
              </a:rPr>
              <a:t>Future Improvements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4297680" cy="530352"/>
          </a:xfrm>
          <a:prstGeom prst="rect">
            <a:avLst/>
          </a:prstGeom>
          <a:solidFill>
            <a:srgbClr val="13203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63040"/>
            <a:ext cx="54864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463040"/>
            <a:ext cx="4069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Try XGBoost / LightGBM for better accuracy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103120"/>
            <a:ext cx="4297680" cy="530352"/>
          </a:xfrm>
          <a:prstGeom prst="rect">
            <a:avLst/>
          </a:prstGeom>
          <a:solidFill>
            <a:srgbClr val="13203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103120"/>
            <a:ext cx="54864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2103120"/>
            <a:ext cx="4069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Deploy via Flask / Streamlit web app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743200"/>
            <a:ext cx="4297680" cy="530352"/>
          </a:xfrm>
          <a:prstGeom prst="rect">
            <a:avLst/>
          </a:prstGeom>
          <a:solidFill>
            <a:srgbClr val="13203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743200"/>
            <a:ext cx="54864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743200"/>
            <a:ext cx="4069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Use SHAP values for explainability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4297680" cy="530352"/>
          </a:xfrm>
          <a:prstGeom prst="rect">
            <a:avLst/>
          </a:prstGeom>
          <a:solidFill>
            <a:srgbClr val="13203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383280"/>
            <a:ext cx="54864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383280"/>
            <a:ext cx="4069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Feature engineering for new predictors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4023360"/>
            <a:ext cx="4297680" cy="530352"/>
          </a:xfrm>
          <a:prstGeom prst="rect">
            <a:avLst/>
          </a:prstGeom>
          <a:solidFill>
            <a:srgbClr val="132030"/>
          </a:solidFill>
          <a:ln w="12700">
            <a:solidFill>
              <a:srgbClr val="2C3E5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8" name="Shape 26"/>
          <p:cNvSpPr/>
          <p:nvPr/>
        </p:nvSpPr>
        <p:spPr>
          <a:xfrm>
            <a:off x="4663440" y="4023360"/>
            <a:ext cx="54864" cy="5303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4023360"/>
            <a:ext cx="4069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C3C7"/>
                </a:solidFill>
              </a:rPr>
              <a:t>Real-time scoring pipeline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Thank You | Harshada Patil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650</Words>
  <Application>Microsoft Office PowerPoint</Application>
  <PresentationFormat>On-screen Show (16:9)</PresentationFormat>
  <Paragraphs>183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subject>PptxGenJS Presentation</dc:subject>
  <dc:creator>Harshada Patil</dc:creator>
  <cp:lastModifiedBy>Harshada Patil</cp:lastModifiedBy>
  <cp:revision>2</cp:revision>
  <dcterms:created xsi:type="dcterms:W3CDTF">2026-03-30T03:02:43Z</dcterms:created>
  <dcterms:modified xsi:type="dcterms:W3CDTF">2026-03-31T11:25:38Z</dcterms:modified>
</cp:coreProperties>
</file>